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14" r:id="rId3"/>
    <p:sldId id="322" r:id="rId4"/>
    <p:sldId id="323" r:id="rId5"/>
    <p:sldId id="266" r:id="rId6"/>
    <p:sldId id="341" r:id="rId7"/>
    <p:sldId id="342" r:id="rId8"/>
    <p:sldId id="343" r:id="rId9"/>
    <p:sldId id="344" r:id="rId10"/>
    <p:sldId id="345" r:id="rId11"/>
    <p:sldId id="349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9DA631-D224-43F7-9A78-68BA94148A8B}" v="2" dt="2026-03-10T05:50:56.3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82"/>
    <p:restoredTop sz="95833"/>
  </p:normalViewPr>
  <p:slideViewPr>
    <p:cSldViewPr snapToGrid="0" snapToObjects="1">
      <p:cViewPr>
        <p:scale>
          <a:sx n="75" d="100"/>
          <a:sy n="75" d="100"/>
        </p:scale>
        <p:origin x="1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Joshna" userId="32a44491077bad6f" providerId="LiveId" clId="{E55E3914-6BAF-4E4C-9DB2-BDE1317B7857}"/>
    <pc:docChg chg="delSld modSld">
      <pc:chgData name="Sai Joshna" userId="32a44491077bad6f" providerId="LiveId" clId="{E55E3914-6BAF-4E4C-9DB2-BDE1317B7857}" dt="2026-03-10T07:26:35.953" v="10" actId="1076"/>
      <pc:docMkLst>
        <pc:docMk/>
      </pc:docMkLst>
      <pc:sldChg chg="del">
        <pc:chgData name="Sai Joshna" userId="32a44491077bad6f" providerId="LiveId" clId="{E55E3914-6BAF-4E4C-9DB2-BDE1317B7857}" dt="2026-03-10T05:45:18.222" v="0" actId="47"/>
        <pc:sldMkLst>
          <pc:docMk/>
          <pc:sldMk cId="2851391703" sldId="261"/>
        </pc:sldMkLst>
      </pc:sldChg>
      <pc:sldChg chg="modSp mod">
        <pc:chgData name="Sai Joshna" userId="32a44491077bad6f" providerId="LiveId" clId="{E55E3914-6BAF-4E4C-9DB2-BDE1317B7857}" dt="2026-03-10T05:51:05.389" v="4" actId="255"/>
        <pc:sldMkLst>
          <pc:docMk/>
          <pc:sldMk cId="2715783799" sldId="323"/>
        </pc:sldMkLst>
        <pc:spChg chg="mod">
          <ac:chgData name="Sai Joshna" userId="32a44491077bad6f" providerId="LiveId" clId="{E55E3914-6BAF-4E4C-9DB2-BDE1317B7857}" dt="2026-03-10T05:51:05.389" v="4" actId="255"/>
          <ac:spMkLst>
            <pc:docMk/>
            <pc:sldMk cId="2715783799" sldId="323"/>
            <ac:spMk id="2" creationId="{967B253C-B4FD-44E5-5B8B-C8A1E9CBE236}"/>
          </ac:spMkLst>
        </pc:spChg>
      </pc:sldChg>
      <pc:sldChg chg="addSp delSp modSp mod">
        <pc:chgData name="Sai Joshna" userId="32a44491077bad6f" providerId="LiveId" clId="{E55E3914-6BAF-4E4C-9DB2-BDE1317B7857}" dt="2026-03-10T07:26:35.953" v="10" actId="1076"/>
        <pc:sldMkLst>
          <pc:docMk/>
          <pc:sldMk cId="2357471992" sldId="348"/>
        </pc:sldMkLst>
        <pc:spChg chg="del">
          <ac:chgData name="Sai Joshna" userId="32a44491077bad6f" providerId="LiveId" clId="{E55E3914-6BAF-4E4C-9DB2-BDE1317B7857}" dt="2026-03-10T07:25:34.298" v="6"/>
          <ac:spMkLst>
            <pc:docMk/>
            <pc:sldMk cId="2357471992" sldId="348"/>
            <ac:spMk id="3" creationId="{81383DFD-4145-46B6-BA5B-4C9D68B54059}"/>
          </ac:spMkLst>
        </pc:spChg>
        <pc:picChg chg="add mod ord">
          <ac:chgData name="Sai Joshna" userId="32a44491077bad6f" providerId="LiveId" clId="{E55E3914-6BAF-4E4C-9DB2-BDE1317B7857}" dt="2026-03-10T07:26:35.953" v="10" actId="1076"/>
          <ac:picMkLst>
            <pc:docMk/>
            <pc:sldMk cId="2357471992" sldId="348"/>
            <ac:picMk id="8" creationId="{40357CB0-B019-E457-9E5F-27AECEBF2BA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10-03-2026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10-03-2026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10-03-2026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</a:t>
            </a:r>
            <a:r>
              <a:rPr lang="en-IN" sz="2800" b="1" dirty="0"/>
              <a:t>Smart Diet Planning and Tracking System</a:t>
            </a:r>
            <a:br>
              <a:rPr lang="en-IN" b="1" dirty="0"/>
            </a:b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</a:t>
            </a:r>
            <a:r>
              <a:rPr lang="en-US" sz="9600" dirty="0" err="1"/>
              <a:t>Kuppannagari</a:t>
            </a:r>
            <a:r>
              <a:rPr lang="en-US" sz="9600" dirty="0"/>
              <a:t> Sai Joshna</a:t>
            </a:r>
          </a:p>
          <a:p>
            <a:pPr marL="0" indent="0" algn="ctr">
              <a:buNone/>
            </a:pPr>
            <a:r>
              <a:rPr lang="en-US" sz="9600" dirty="0"/>
              <a:t>Student ID: 2520030293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Cluster:3</a:t>
            </a:r>
          </a:p>
          <a:p>
            <a:pPr marL="0" indent="0" algn="ctr">
              <a:buNone/>
            </a:pPr>
            <a:r>
              <a:rPr lang="en-US" sz="11200" dirty="0"/>
              <a:t>Section: 11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10-03-2026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TSP Madhuri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Abstract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7B253C-B4FD-44E5-5B8B-C8A1E9CBE2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4112"/>
            <a:ext cx="10515600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200" b="1" dirty="0"/>
              <a:t>Diet Planning and Tracking System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a Java-based web application for easy nutrition tracking.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handle the main logic and ensure smooth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builds the structure of the web pages, while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makes them visually appealing.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JavaScript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adds interactivity, making tools like calorie calculators dynamic.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app begins as a simple calorie calculator and grows into a dashboard for meal tracking.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features like smart meal planning and multi-user support make it a complete health tool.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Existing System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 Current methods for tracking nutrition generally fall into two categories, both of which have significant flaws:</a:t>
            </a:r>
          </a:p>
          <a:p>
            <a:r>
              <a:rPr lang="en-US" sz="2200" b="1" dirty="0"/>
              <a:t>Manual Tracking:</a:t>
            </a:r>
            <a:r>
              <a:rPr lang="en-US" sz="2200" dirty="0"/>
              <a:t> Using paper journals or mental math. This is </a:t>
            </a:r>
            <a:r>
              <a:rPr lang="en-US" sz="2200" b="1" dirty="0"/>
              <a:t>tedious</a:t>
            </a:r>
            <a:r>
              <a:rPr lang="en-US" sz="2200" dirty="0"/>
              <a:t>, prone to </a:t>
            </a:r>
            <a:r>
              <a:rPr lang="en-US" sz="2200" b="1" dirty="0"/>
              <a:t>calculation errors</a:t>
            </a:r>
            <a:r>
              <a:rPr lang="en-US" sz="2200" dirty="0"/>
              <a:t>, and lacks any visual feedback.</a:t>
            </a:r>
          </a:p>
          <a:p>
            <a:r>
              <a:rPr lang="en-US" sz="2200" b="1" dirty="0"/>
              <a:t>Commercial Apps:</a:t>
            </a:r>
            <a:r>
              <a:rPr lang="en-US" sz="2200" dirty="0"/>
              <a:t> Large platforms (e.g., MyFitnessPal) are often </a:t>
            </a:r>
            <a:r>
              <a:rPr lang="en-US" sz="2200" b="1" dirty="0"/>
              <a:t>bloated with ads</a:t>
            </a:r>
            <a:r>
              <a:rPr lang="en-US" sz="2200" dirty="0"/>
              <a:t>, require </a:t>
            </a:r>
            <a:r>
              <a:rPr lang="en-US" sz="2200" b="1" dirty="0"/>
              <a:t>paid subscriptions</a:t>
            </a:r>
            <a:r>
              <a:rPr lang="en-US" sz="2200" dirty="0"/>
              <a:t> for core features, and pose </a:t>
            </a:r>
            <a:r>
              <a:rPr lang="en-US" sz="2200" b="1" dirty="0"/>
              <a:t>privacy risks</a:t>
            </a:r>
            <a:r>
              <a:rPr lang="en-US" sz="2200" dirty="0"/>
              <a:t> regarding personal health data.</a:t>
            </a:r>
          </a:p>
          <a:p>
            <a:r>
              <a:rPr lang="en-US" sz="2200" b="1" dirty="0"/>
              <a:t>The Gap:</a:t>
            </a:r>
            <a:r>
              <a:rPr lang="en-US" sz="2200" dirty="0"/>
              <a:t> Most current tools focus on mass-market data collection rather than providing a simple, ad-free experience for personal growth.</a:t>
            </a:r>
          </a:p>
          <a:p>
            <a:pPr marL="457200" lvl="1" indent="-339725" algn="just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Smart </a:t>
            </a:r>
            <a:r>
              <a:rPr lang="en-US" sz="2400" b="1" dirty="0" err="1"/>
              <a:t>CaloTrack</a:t>
            </a:r>
            <a:r>
              <a:rPr lang="en-US" sz="2400" dirty="0"/>
              <a:t> is a lightweight, Java-based web application designed to provide a fast, private, and free alternative.</a:t>
            </a:r>
          </a:p>
          <a:p>
            <a:r>
              <a:rPr lang="en-US" sz="2400" b="1" dirty="0"/>
              <a:t>Precision:</a:t>
            </a:r>
            <a:r>
              <a:rPr lang="en-US" sz="2400" dirty="0"/>
              <a:t> Replaces manual estimates with automated, scientifically-backed Java logic for calorie targets.</a:t>
            </a:r>
          </a:p>
          <a:p>
            <a:r>
              <a:rPr lang="en-US" sz="2400" b="1" dirty="0"/>
              <a:t>Privacy &amp; Speed:</a:t>
            </a:r>
            <a:r>
              <a:rPr lang="en-US" sz="2400" dirty="0"/>
              <a:t> A minimalist, ad-free interface that ensures user data stays private while allowing for quick meal logging.</a:t>
            </a:r>
          </a:p>
          <a:p>
            <a:r>
              <a:rPr lang="en-US" sz="2400" b="1" dirty="0"/>
              <a:t>Scalability:</a:t>
            </a:r>
            <a:r>
              <a:rPr lang="en-US" sz="2400" dirty="0"/>
              <a:t> Built on a modular 4-phase architecture, the system evolves from a simple calculator into a full-featured health dashboard.</a:t>
            </a:r>
          </a:p>
          <a:p>
            <a:r>
              <a:rPr lang="en-US" sz="2400" b="1" dirty="0"/>
              <a:t>Goal-Oriented:</a:t>
            </a:r>
            <a:r>
              <a:rPr lang="en-US" sz="2400" dirty="0"/>
              <a:t> It provides immediate, actionable feedback to help users reach weight loss or muscle gain targets without unnecessary complexity.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682" y="265164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86BCD91-5AEE-79D1-5DEF-E6C38BC8B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7209" y="1385678"/>
            <a:ext cx="5635847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347A3-87E0-61DD-93F5-320401486229}"/>
              </a:ext>
            </a:extLst>
          </p:cNvPr>
          <p:cNvSpPr txBox="1"/>
          <p:nvPr/>
        </p:nvSpPr>
        <p:spPr>
          <a:xfrm>
            <a:off x="110824" y="1644805"/>
            <a:ext cx="6096000" cy="409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HTML/CSS/JS forms collect user data and display results.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travels to the server via standard HTTP requests.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logic calculates calorie goals and processes meal logs.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Securely stores user profiles and persistent history.</a:t>
            </a:r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Project Modules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6522C6-8CB0-7284-8D35-DBF8C64E79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4143" y="1747546"/>
            <a:ext cx="10479657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User Profile:</a:t>
            </a:r>
            <a:r>
              <a:rPr lang="en-US" altLang="en-US" sz="2200" dirty="0">
                <a:latin typeface="Arial" panose="020B0604020202020204" pitchFamily="34" charset="0"/>
              </a:rPr>
              <a:t> Captures biometric data and activity levels for personalized tracking.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Calculation Engine:</a:t>
            </a:r>
            <a:r>
              <a:rPr lang="en-US" altLang="en-US" sz="2200" dirty="0">
                <a:latin typeface="Arial" panose="020B0604020202020204" pitchFamily="34" charset="0"/>
              </a:rPr>
              <a:t> Java logic that computes daily calorie targets using BMR formulas.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Meal Logger:</a:t>
            </a:r>
            <a:r>
              <a:rPr lang="en-US" altLang="en-US" sz="2200" dirty="0">
                <a:latin typeface="Arial" panose="020B0604020202020204" pitchFamily="34" charset="0"/>
              </a:rPr>
              <a:t> An interactive form for recording daily food intake and calorie counts.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Nutritional Analytics:</a:t>
            </a:r>
            <a:r>
              <a:rPr lang="en-US" altLang="en-US" sz="2200" dirty="0">
                <a:latin typeface="Arial" panose="020B0604020202020204" pitchFamily="34" charset="0"/>
              </a:rPr>
              <a:t> Visualizes progress and intake trends using JavaScript charts.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Smart Suggestions:</a:t>
            </a:r>
            <a:r>
              <a:rPr lang="en-US" altLang="en-US" sz="2200" dirty="0">
                <a:latin typeface="Arial" panose="020B0604020202020204" pitchFamily="34" charset="0"/>
              </a:rPr>
              <a:t> Generates tailored meal plans based on user-specific fitness goals.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b="1" dirty="0">
                <a:latin typeface="Arial" panose="020B0604020202020204" pitchFamily="34" charset="0"/>
              </a:rPr>
              <a:t>Data Persistence:</a:t>
            </a:r>
            <a:r>
              <a:rPr lang="en-US" altLang="en-US" sz="2200" dirty="0">
                <a:latin typeface="Arial" panose="020B0604020202020204" pitchFamily="34" charset="0"/>
              </a:rPr>
              <a:t> Manages secure storage of user history and profile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BC82A6-C187-70D2-8B9A-88389A28FC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75888" y="1736780"/>
            <a:ext cx="9125976" cy="3929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Automate Calculations:</a:t>
            </a:r>
            <a:r>
              <a:rPr lang="en-US" sz="2400" dirty="0"/>
              <a:t> Use Java logic to provide instant, accurate calorie targets based on user biometrics.</a:t>
            </a:r>
          </a:p>
          <a:p>
            <a:r>
              <a:rPr lang="en-US" sz="2400" b="1" dirty="0"/>
              <a:t>Simplify Tracking:</a:t>
            </a:r>
            <a:r>
              <a:rPr lang="en-US" sz="2400" dirty="0"/>
              <a:t> Create a minimalist, ad-free interface for fast and easy daily meal logging.</a:t>
            </a:r>
          </a:p>
          <a:p>
            <a:r>
              <a:rPr lang="en-US" sz="2400" b="1" dirty="0"/>
              <a:t>Ensure Privacy:</a:t>
            </a:r>
            <a:r>
              <a:rPr lang="en-US" sz="2400" dirty="0"/>
              <a:t> Keep user health data secure and private, avoiding the data-mining of commercial apps.</a:t>
            </a:r>
          </a:p>
          <a:p>
            <a:r>
              <a:rPr lang="en-US" sz="2400" b="1" dirty="0"/>
              <a:t>Visualize Progress:</a:t>
            </a:r>
            <a:r>
              <a:rPr lang="en-US" sz="2400" dirty="0"/>
              <a:t> Provide clear, interactive dashboards to track fitness goals and nutritional trends.</a:t>
            </a:r>
          </a:p>
          <a:p>
            <a:r>
              <a:rPr lang="en-US" sz="2400" b="1" dirty="0"/>
              <a:t>Enable Scalability:</a:t>
            </a:r>
            <a:r>
              <a:rPr lang="en-US" sz="2400" dirty="0"/>
              <a:t> Build a modular foundation that allows for future enhancements like AI meal planning.</a:t>
            </a:r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Co’s Attainments - FWD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17" name="Content Placeholder 16">
            <a:extLst>
              <a:ext uri="{FF2B5EF4-FFF2-40B4-BE49-F238E27FC236}">
                <a16:creationId xmlns:a16="http://schemas.microsoft.com/office/drawing/2014/main" id="{49A838AA-FE3D-CD14-E377-B93377FCEB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335100"/>
              </p:ext>
            </p:extLst>
          </p:nvPr>
        </p:nvGraphicFramePr>
        <p:xfrm>
          <a:off x="711200" y="1511971"/>
          <a:ext cx="10422468" cy="4749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156">
                  <a:extLst>
                    <a:ext uri="{9D8B030D-6E8A-4147-A177-3AD203B41FA5}">
                      <a16:colId xmlns:a16="http://schemas.microsoft.com/office/drawing/2014/main" val="2785565506"/>
                    </a:ext>
                  </a:extLst>
                </a:gridCol>
                <a:gridCol w="3474156">
                  <a:extLst>
                    <a:ext uri="{9D8B030D-6E8A-4147-A177-3AD203B41FA5}">
                      <a16:colId xmlns:a16="http://schemas.microsoft.com/office/drawing/2014/main" val="1848414147"/>
                    </a:ext>
                  </a:extLst>
                </a:gridCol>
                <a:gridCol w="3474156">
                  <a:extLst>
                    <a:ext uri="{9D8B030D-6E8A-4147-A177-3AD203B41FA5}">
                      <a16:colId xmlns:a16="http://schemas.microsoft.com/office/drawing/2014/main" val="911107340"/>
                    </a:ext>
                  </a:extLst>
                </a:gridCol>
              </a:tblGrid>
              <a:tr h="28985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946871"/>
                  </a:ext>
                </a:extLst>
              </a:tr>
              <a:tr h="59580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Syllabus Topic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How Smart Diet Planner Achieves It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108350715"/>
                  </a:ext>
                </a:extLst>
              </a:tr>
              <a:tr h="10305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CO1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HTML &amp; CSS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Uses semantic HTML structure with advanced CSS including linear gradients, custom typography, and box-shadows.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881273189"/>
                  </a:ext>
                </a:extLst>
              </a:tr>
              <a:tr h="10305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CO2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Forms &amp; Layouts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Implements multi-step forms with validation and utilizes Flexbox for dynamic meal list and card layouts.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2214845079"/>
                  </a:ext>
                </a:extLst>
              </a:tr>
              <a:tr h="103058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CO3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JS Fundamentals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Implements calorie logic via arrow functions, array methods (</a:t>
                      </a:r>
                      <a:r>
                        <a:rPr lang="en-US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forEach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), and conditional health status branching.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4135672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05B2BEE-D12A-91F0-CAA6-E96623B26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3045908"/>
              </p:ext>
            </p:extLst>
          </p:nvPr>
        </p:nvGraphicFramePr>
        <p:xfrm>
          <a:off x="838200" y="1825625"/>
          <a:ext cx="10405533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8511">
                  <a:extLst>
                    <a:ext uri="{9D8B030D-6E8A-4147-A177-3AD203B41FA5}">
                      <a16:colId xmlns:a16="http://schemas.microsoft.com/office/drawing/2014/main" val="1000009890"/>
                    </a:ext>
                  </a:extLst>
                </a:gridCol>
                <a:gridCol w="3468511">
                  <a:extLst>
                    <a:ext uri="{9D8B030D-6E8A-4147-A177-3AD203B41FA5}">
                      <a16:colId xmlns:a16="http://schemas.microsoft.com/office/drawing/2014/main" val="164796791"/>
                    </a:ext>
                  </a:extLst>
                </a:gridCol>
                <a:gridCol w="3468511">
                  <a:extLst>
                    <a:ext uri="{9D8B030D-6E8A-4147-A177-3AD203B41FA5}">
                      <a16:colId xmlns:a16="http://schemas.microsoft.com/office/drawing/2014/main" val="446474843"/>
                    </a:ext>
                  </a:extLst>
                </a:gridCol>
              </a:tblGrid>
              <a:tr h="29459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761066"/>
                  </a:ext>
                </a:extLst>
              </a:tr>
              <a:tr h="59725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Syllabus Topic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How Smart Diet Planner Achieves It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951458208"/>
                  </a:ext>
                </a:extLst>
              </a:tr>
              <a:tr h="10330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CO4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DOM &amp; Storage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Features dynamic UI rendering for logs/progress bars and uses </a:t>
                      </a: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localStorage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for session and user profile persistence.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3206660364"/>
                  </a:ext>
                </a:extLst>
              </a:tr>
              <a:tr h="10330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CO5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Advanced Web Dev</a:t>
                      </a:r>
                    </a:p>
                  </a:txBody>
                  <a:tcPr marR="76200" marT="101600" marB="1016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Integrates the Chart.js API for visual data analytics and follows a deployable Single-Page Application (SPA) structure.</a:t>
                      </a:r>
                    </a:p>
                  </a:txBody>
                  <a:tcPr marT="101600" marB="101600" anchor="ctr"/>
                </a:tc>
                <a:extLst>
                  <a:ext uri="{0D108BD9-81ED-4DB2-BD59-A6C34878D82A}">
                    <a16:rowId xmlns:a16="http://schemas.microsoft.com/office/drawing/2014/main" val="68895022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B8C2A-6B11-A321-B386-000EA356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D0DEE-6450-8B1C-1F8C-60CFAE8F0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88EC-23E5-FCCE-0A7F-6A0946912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85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Screenshots for FWD &amp; DSA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3D0C3C-2A83-2309-3167-8182AEB1D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989" y="1260392"/>
            <a:ext cx="3009018" cy="262925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366809-0046-C08A-9950-782CD9442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909" y="1275304"/>
            <a:ext cx="4391821" cy="26292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C68CEB-382E-1762-8171-5F4022458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059" y="4092218"/>
            <a:ext cx="3556007" cy="26292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C61B69-6567-B489-AF80-6FEC8F14D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632" y="1260390"/>
            <a:ext cx="3528749" cy="26292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DDBC0F-C0D7-B629-1759-14F78908B6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434" y="3947960"/>
            <a:ext cx="2937931" cy="291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/>
              <a:t>The Smart Diet Planner is a web-based project built using HTML, CSS, and JavaScript.</a:t>
            </a:r>
            <a:br>
              <a:rPr lang="en-US" sz="2200" dirty="0"/>
            </a:br>
            <a:r>
              <a:rPr lang="en-US" sz="2200" dirty="0"/>
              <a:t>It provides BMI calculation, calorie tracking, and weekly reports with interactive charts.</a:t>
            </a:r>
            <a:br>
              <a:rPr lang="en-US" sz="2200" dirty="0"/>
            </a:br>
            <a:r>
              <a:rPr lang="en-US" sz="2200" dirty="0"/>
              <a:t>The project maps effectively to all course outcomes (CO1–CO5), covering design, forms, interactivity, storage, optimization, and deployment.</a:t>
            </a:r>
            <a:br>
              <a:rPr lang="en-US" sz="2200" dirty="0"/>
            </a:br>
            <a:r>
              <a:rPr lang="en-US" sz="2200" dirty="0"/>
              <a:t>It demonstrates practical application of syllabus concepts while offering real-world utility.</a:t>
            </a:r>
            <a:br>
              <a:rPr lang="en-US" sz="2200" dirty="0"/>
            </a:br>
            <a:r>
              <a:rPr lang="en-US" sz="2200" dirty="0"/>
              <a:t>Overall, the system is simple, user-friendly, and academically aligned, making it a strong showcase project.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Geo- 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357CB0-B019-E457-9E5F-27AECEBF2B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402" y="1538288"/>
            <a:ext cx="3937000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10-03-2026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10-03-2026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3942</TotalTime>
  <Words>915</Words>
  <Application>Microsoft Office PowerPoint</Application>
  <PresentationFormat>Widescreen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Google Sans Text</vt:lpstr>
      <vt:lpstr>Office Theme</vt:lpstr>
      <vt:lpstr>Custom Design</vt:lpstr>
      <vt:lpstr>Title:Smart Diet Planning and Tracking System </vt:lpstr>
      <vt:lpstr>OUTLINE</vt:lpstr>
      <vt:lpstr>Abstract</vt:lpstr>
      <vt:lpstr>Existing System </vt:lpstr>
      <vt:lpstr>Proposed System</vt:lpstr>
      <vt:lpstr>System Architecture</vt:lpstr>
      <vt:lpstr>Project Modules</vt:lpstr>
      <vt:lpstr>Objectives</vt:lpstr>
      <vt:lpstr>Co’s Attainments - FWD</vt:lpstr>
      <vt:lpstr>PowerPoint Presentation</vt:lpstr>
      <vt:lpstr>Screenshots for FWD &amp; DSA</vt:lpstr>
      <vt:lpstr>Conclusion</vt:lpstr>
      <vt:lpstr>Geo- 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Sai Joshna</cp:lastModifiedBy>
  <cp:revision>52</cp:revision>
  <dcterms:created xsi:type="dcterms:W3CDTF">2022-05-20T10:20:31Z</dcterms:created>
  <dcterms:modified xsi:type="dcterms:W3CDTF">2026-03-10T07:26:46Z</dcterms:modified>
</cp:coreProperties>
</file>